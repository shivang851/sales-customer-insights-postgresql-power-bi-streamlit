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6"/>
  </p:notesMasterIdLst>
  <p:handoutMasterIdLst>
    <p:handoutMasterId r:id="rId17"/>
  </p:handoutMasterIdLst>
  <p:sldIdLst>
    <p:sldId id="1497" r:id="rId5"/>
    <p:sldId id="1515" r:id="rId6"/>
    <p:sldId id="1523" r:id="rId7"/>
    <p:sldId id="1499" r:id="rId8"/>
    <p:sldId id="1517" r:id="rId9"/>
    <p:sldId id="1514" r:id="rId10"/>
    <p:sldId id="1519" r:id="rId11"/>
    <p:sldId id="1520" r:id="rId12"/>
    <p:sldId id="1521" r:id="rId13"/>
    <p:sldId id="1522" r:id="rId14"/>
    <p:sldId id="152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079" autoAdjust="0"/>
  </p:normalViewPr>
  <p:slideViewPr>
    <p:cSldViewPr snapToGrid="0">
      <p:cViewPr varScale="1">
        <p:scale>
          <a:sx n="97" d="100"/>
          <a:sy n="97" d="100"/>
        </p:scale>
        <p:origin x="10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12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360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918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438" y="2100122"/>
            <a:ext cx="8050162" cy="3381830"/>
          </a:xfrm>
        </p:spPr>
        <p:txBody>
          <a:bodyPr>
            <a:normAutofit/>
          </a:bodyPr>
          <a:lstStyle/>
          <a:p>
            <a:r>
              <a:rPr lang="en-US" cap="none" dirty="0"/>
              <a:t>Sales &amp; Customer Insights Analysis</a:t>
            </a:r>
            <a:br>
              <a:rPr lang="en-US" cap="none" dirty="0"/>
            </a:br>
            <a:r>
              <a:rPr lang="en-US" sz="5400" cap="none" dirty="0"/>
              <a:t>Using PostgreSQL &amp; Power BI</a:t>
            </a:r>
            <a:endParaRPr lang="en-US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383226" cy="547908"/>
          </a:xfrm>
        </p:spPr>
        <p:txBody>
          <a:bodyPr>
            <a:normAutofit/>
          </a:bodyPr>
          <a:lstStyle/>
          <a:p>
            <a:r>
              <a:rPr lang="en-US" dirty="0"/>
              <a:t>by Shivang Sharma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AC4301-C50D-ACFD-A86A-A98B0822F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20" y="1282290"/>
            <a:ext cx="10491019" cy="25432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6CC7F7-569C-3406-2358-88062F897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20" y="3825567"/>
            <a:ext cx="10491019" cy="2487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B19339-FB87-A825-7954-9D572FABC5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731"/>
          <a:stretch>
            <a:fillRect/>
          </a:stretch>
        </p:blipFill>
        <p:spPr>
          <a:xfrm>
            <a:off x="10923639" y="3825567"/>
            <a:ext cx="875071" cy="2487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E56ECB-BF6A-9900-4998-D7542E81E1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0423"/>
          <a:stretch>
            <a:fillRect/>
          </a:stretch>
        </p:blipFill>
        <p:spPr>
          <a:xfrm>
            <a:off x="10923639" y="1282290"/>
            <a:ext cx="875071" cy="25432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9CA275-97CC-2FA6-9A10-1C4A9916B96A}"/>
              </a:ext>
            </a:extLst>
          </p:cNvPr>
          <p:cNvSpPr txBox="1"/>
          <p:nvPr/>
        </p:nvSpPr>
        <p:spPr>
          <a:xfrm>
            <a:off x="3097161" y="580103"/>
            <a:ext cx="5850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Dataset Overview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15F6B-027F-C478-6848-F36A24F17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A8DDC10-F158-59F0-79FD-96FE38E3C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346" y="896969"/>
            <a:ext cx="3103144" cy="17366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307470-5851-9FB4-786A-3658D5379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948" y="3532896"/>
            <a:ext cx="3749940" cy="18273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682B19-EF7E-18CC-0DE6-4D013F035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774" y="896969"/>
            <a:ext cx="2919389" cy="1736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619C8A1-FB69-4BFF-31B5-91A3FF4BBF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3774" y="3532896"/>
            <a:ext cx="2919389" cy="182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8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989" y="2261420"/>
            <a:ext cx="9145588" cy="1907510"/>
          </a:xfrm>
        </p:spPr>
        <p:txBody>
          <a:bodyPr anchor="b"/>
          <a:lstStyle/>
          <a:p>
            <a:pPr algn="ctr"/>
            <a:r>
              <a:rPr lang="en-US" dirty="0"/>
              <a:t>Global Sales analysis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6960-6EB7-5543-D7E2-21C56C333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034" y="661497"/>
            <a:ext cx="10465073" cy="1132258"/>
          </a:xfrm>
        </p:spPr>
        <p:txBody>
          <a:bodyPr/>
          <a:lstStyle/>
          <a:p>
            <a:r>
              <a:rPr lang="en-US" dirty="0"/>
              <a:t>country's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A546EC-9FD9-B648-7709-CAB1A85F7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4" y="1356080"/>
            <a:ext cx="8032956" cy="30789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26632B-CDE0-7EF9-6A67-436AFBFF3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0" t="19163" r="11194" b="20188"/>
          <a:stretch>
            <a:fillRect/>
          </a:stretch>
        </p:blipFill>
        <p:spPr>
          <a:xfrm>
            <a:off x="934063" y="4434983"/>
            <a:ext cx="4886633" cy="19658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0E034C-A330-9336-5BCD-9A31DB48A257}"/>
              </a:ext>
            </a:extLst>
          </p:cNvPr>
          <p:cNvSpPr txBox="1"/>
          <p:nvPr/>
        </p:nvSpPr>
        <p:spPr>
          <a:xfrm>
            <a:off x="7659329" y="31856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06100B-6B7E-CA2E-655C-7C04EFE16FE5}"/>
              </a:ext>
            </a:extLst>
          </p:cNvPr>
          <p:cNvSpPr txBox="1"/>
          <p:nvPr/>
        </p:nvSpPr>
        <p:spPr>
          <a:xfrm>
            <a:off x="9124335" y="874934"/>
            <a:ext cx="283169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USA is the highest revenue-generating market, significantly outperforming all other countries.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Spain and France are the next strongest markets, each generating over $1M in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Several countries show low contribution, indicating untapped growth potential.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EF6DBB-0D8B-2C0F-2131-16F4EB145ECF}"/>
              </a:ext>
            </a:extLst>
          </p:cNvPr>
          <p:cNvSpPr txBox="1"/>
          <p:nvPr/>
        </p:nvSpPr>
        <p:spPr>
          <a:xfrm>
            <a:off x="6381135" y="4719484"/>
            <a:ext cx="47293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Business Implication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on retention and upselling in top markets (USA, Spain, France)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 marketing efforts in underperforming regions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3826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597033"/>
          </a:xfrm>
        </p:spPr>
        <p:txBody>
          <a:bodyPr/>
          <a:lstStyle/>
          <a:p>
            <a:r>
              <a:rPr lang="en-US" dirty="0"/>
              <a:t>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4307" y="1504334"/>
            <a:ext cx="4598014" cy="4218039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/>
              <a:t>Classic Cars dominate sales, contributing ~39% of total revenue.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/>
              <a:t>Vintage Cars are the second strongest category.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/>
              <a:t>Other categories (e.g., Trains, Ships) show relatively lower performance..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1" dirty="0"/>
              <a:t>Business Implication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/>
              <a:t>Expand inventory and marketing for high-performing product lines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/>
              <a:t>Re-evaluate or reposition low-performing categories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5BA430-0379-3CD4-1B66-B4CED0688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814" y="723521"/>
            <a:ext cx="5079625" cy="2963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F03EB7-ADA1-EB7B-A3B9-028590506A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94" t="20778" r="13194" b="20695"/>
          <a:stretch>
            <a:fillRect/>
          </a:stretch>
        </p:blipFill>
        <p:spPr>
          <a:xfrm>
            <a:off x="6108923" y="3763296"/>
            <a:ext cx="5427405" cy="22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4A03B-C195-F463-57CC-C013CDAA1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E624D-1DFD-FD4E-521D-A0689FD7D6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6256" y="627997"/>
            <a:ext cx="6588711" cy="200704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Classic Cars are the top-selling category across most countries</a:t>
            </a:r>
          </a:p>
          <a:p>
            <a:pPr>
              <a:spcBef>
                <a:spcPts val="0"/>
              </a:spcBef>
            </a:pPr>
            <a:r>
              <a:rPr lang="en-US" dirty="0"/>
              <a:t>However, Japan shows higher preference for Planes, indicating regional variation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Business Implication</a:t>
            </a:r>
          </a:p>
          <a:p>
            <a:pPr>
              <a:spcBef>
                <a:spcPts val="0"/>
              </a:spcBef>
            </a:pPr>
            <a:r>
              <a:rPr lang="en-US" dirty="0"/>
              <a:t>Implement region-specific product strategies</a:t>
            </a:r>
          </a:p>
          <a:p>
            <a:pPr>
              <a:spcBef>
                <a:spcPts val="0"/>
              </a:spcBef>
            </a:pPr>
            <a:r>
              <a:rPr lang="en-US" dirty="0"/>
              <a:t>Customize offerings based on local demand patterns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7694BF-2C49-16BA-1D8A-6A7BF8845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168" y="428469"/>
            <a:ext cx="4090219" cy="58015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155678-1B56-BDE1-AA77-934657EEC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9" t="11305" r="4813" b="9933"/>
          <a:stretch>
            <a:fillRect/>
          </a:stretch>
        </p:blipFill>
        <p:spPr>
          <a:xfrm>
            <a:off x="398207" y="2743200"/>
            <a:ext cx="7044811" cy="34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76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24121-EC36-FE14-3B8F-B2EF3D06A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AEB48-11B3-5799-03F5-80F0EEE91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989" y="2261420"/>
            <a:ext cx="9145588" cy="1907510"/>
          </a:xfrm>
        </p:spPr>
        <p:txBody>
          <a:bodyPr anchor="b"/>
          <a:lstStyle/>
          <a:p>
            <a:pPr algn="ctr"/>
            <a:r>
              <a:rPr lang="en-US" dirty="0"/>
              <a:t>Time-Based Analysis</a:t>
            </a:r>
          </a:p>
        </p:txBody>
      </p:sp>
    </p:spTree>
    <p:extLst>
      <p:ext uri="{BB962C8B-B14F-4D97-AF65-F5344CB8AC3E}">
        <p14:creationId xmlns:p14="http://schemas.microsoft.com/office/powerpoint/2010/main" val="3417062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D08A2-F351-B4E0-54A1-C524627B9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B4F774A-5A49-7A86-40EE-C97F8A30C549}"/>
              </a:ext>
            </a:extLst>
          </p:cNvPr>
          <p:cNvSpPr txBox="1"/>
          <p:nvPr/>
        </p:nvSpPr>
        <p:spPr>
          <a:xfrm>
            <a:off x="7659329" y="31856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07A3E4-D550-325E-56D9-B3972E695F6F}"/>
              </a:ext>
            </a:extLst>
          </p:cNvPr>
          <p:cNvSpPr txBox="1"/>
          <p:nvPr/>
        </p:nvSpPr>
        <p:spPr>
          <a:xfrm>
            <a:off x="445698" y="4218039"/>
            <a:ext cx="571912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Peak sales occur in May, October and November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June shows noticeably lower sales performance</a:t>
            </a:r>
          </a:p>
          <a:p>
            <a:pPr>
              <a:spcAft>
                <a:spcPts val="600"/>
              </a:spcAft>
            </a:pPr>
            <a:r>
              <a:rPr lang="en-US" sz="1600" b="1" dirty="0"/>
              <a:t>Business Implication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Plan marketing campaigns around high-performing months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Investigate reasons for low sales in June and apply corrective strategies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139773-F1D6-4B33-2412-58C8EB158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98" y="479950"/>
            <a:ext cx="5827284" cy="35342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9C15B7-65F1-81F0-AFC4-5EC0CC8E13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8" t="8172" r="6677" b="6998"/>
          <a:stretch>
            <a:fillRect/>
          </a:stretch>
        </p:blipFill>
        <p:spPr>
          <a:xfrm>
            <a:off x="6420466" y="276846"/>
            <a:ext cx="5650304" cy="58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30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8CE9F-4241-322F-2BFB-F5DC8A007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4CC77E2-6EE1-BB1B-9F47-F00F9A1A6A60}"/>
              </a:ext>
            </a:extLst>
          </p:cNvPr>
          <p:cNvSpPr txBox="1"/>
          <p:nvPr/>
        </p:nvSpPr>
        <p:spPr>
          <a:xfrm>
            <a:off x="7659329" y="31856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B4344F-FEDD-2AB9-57B8-E66B82010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96" y="384911"/>
            <a:ext cx="4067743" cy="28007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CDF293-6BA0-C585-7046-822E3935A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1" t="23903" r="9480" b="22864"/>
          <a:stretch>
            <a:fillRect/>
          </a:stretch>
        </p:blipFill>
        <p:spPr>
          <a:xfrm>
            <a:off x="5327678" y="1278121"/>
            <a:ext cx="6164826" cy="16251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680D77-C82A-E52E-7FEE-1642BC6C9E40}"/>
              </a:ext>
            </a:extLst>
          </p:cNvPr>
          <p:cNvSpPr txBox="1"/>
          <p:nvPr/>
        </p:nvSpPr>
        <p:spPr>
          <a:xfrm>
            <a:off x="519704" y="3493223"/>
            <a:ext cx="10138464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Revenue declined significantly from </a:t>
            </a:r>
            <a:r>
              <a:rPr lang="en-US" b="1" dirty="0"/>
              <a:t>$4.7M in 2004 to $1.8M in 2005</a:t>
            </a:r>
            <a:r>
              <a:rPr lang="en-US" dirty="0"/>
              <a:t>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Indicates a potential issue in demand, strategy, or operations </a:t>
            </a:r>
          </a:p>
          <a:p>
            <a:pPr>
              <a:spcAft>
                <a:spcPts val="600"/>
              </a:spcAft>
            </a:pPr>
            <a:r>
              <a:rPr lang="en-US" b="1" dirty="0"/>
              <a:t>Business Implication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Requires </a:t>
            </a:r>
            <a:r>
              <a:rPr lang="en-US" b="1" dirty="0"/>
              <a:t>further investigation into the cause of decline</a:t>
            </a:r>
            <a:r>
              <a:rPr lang="en-US" dirty="0"/>
              <a:t>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Possible focus areas: </a:t>
            </a:r>
          </a:p>
          <a:p>
            <a:pPr marL="742950" lvl="1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/>
              <a:t>Customer retention </a:t>
            </a:r>
          </a:p>
          <a:p>
            <a:pPr marL="742950" lvl="1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/>
              <a:t>Product relevance </a:t>
            </a:r>
          </a:p>
          <a:p>
            <a:pPr marL="742950" lvl="1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/>
              <a:t>Market conditions</a:t>
            </a:r>
          </a:p>
        </p:txBody>
      </p:sp>
    </p:spTree>
    <p:extLst>
      <p:ext uri="{BB962C8B-B14F-4D97-AF65-F5344CB8AC3E}">
        <p14:creationId xmlns:p14="http://schemas.microsoft.com/office/powerpoint/2010/main" val="1052390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1D2CD-C21B-9934-A233-E3735E131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56B8132-BA38-44D1-7DCE-C83D934C576D}"/>
              </a:ext>
            </a:extLst>
          </p:cNvPr>
          <p:cNvSpPr txBox="1"/>
          <p:nvPr/>
        </p:nvSpPr>
        <p:spPr>
          <a:xfrm>
            <a:off x="7659329" y="31856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1CC6A-ADED-B7AD-2E79-64BBA51BDF08}"/>
              </a:ext>
            </a:extLst>
          </p:cNvPr>
          <p:cNvSpPr txBox="1"/>
          <p:nvPr/>
        </p:nvSpPr>
        <p:spPr>
          <a:xfrm>
            <a:off x="2084438" y="904568"/>
            <a:ext cx="8731045" cy="4904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Recommendations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top-performing markets (USA, Spain, France)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high-demand product lines (Classic Cars, Vintage Cars)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region-specific product strategies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retention for high-value customers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and address decline in yearly revenue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sales during low-performing months </a:t>
            </a:r>
          </a:p>
        </p:txBody>
      </p:sp>
    </p:spTree>
    <p:extLst>
      <p:ext uri="{BB962C8B-B14F-4D97-AF65-F5344CB8AC3E}">
        <p14:creationId xmlns:p14="http://schemas.microsoft.com/office/powerpoint/2010/main" val="89513259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{504E58B3-EC2C-46D7-9FB3-95EF6DA10089}f4c2fa09-5552-4190-875c-1979579583e2-TFc553d604-a3b6-4c52-b2ed-3a769335c0fd_win32</Template>
  <TotalTime>208</TotalTime>
  <Words>302</Words>
  <Application>Microsoft Office PowerPoint</Application>
  <PresentationFormat>Widescreen</PresentationFormat>
  <Paragraphs>47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Courier New</vt:lpstr>
      <vt:lpstr>Lora</vt:lpstr>
      <vt:lpstr>Playfair Display Black</vt:lpstr>
      <vt:lpstr>Poppins Light</vt:lpstr>
      <vt:lpstr>Times New Roman</vt:lpstr>
      <vt:lpstr>Gradient Circle</vt:lpstr>
      <vt:lpstr>Sales &amp; Customer Insights Analysis Using PostgreSQL &amp; Power BI</vt:lpstr>
      <vt:lpstr>PowerPoint Presentation</vt:lpstr>
      <vt:lpstr>PowerPoint Presentation</vt:lpstr>
      <vt:lpstr>Global Sales analysis</vt:lpstr>
      <vt:lpstr>country's </vt:lpstr>
      <vt:lpstr>Products</vt:lpstr>
      <vt:lpstr>PowerPoint Presentation</vt:lpstr>
      <vt:lpstr>Time-Based Analysis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Opt-Shivang Sharma</dc:creator>
  <cp:lastModifiedBy>Opt-Shivang Sharma</cp:lastModifiedBy>
  <cp:revision>3</cp:revision>
  <dcterms:created xsi:type="dcterms:W3CDTF">2026-04-29T08:02:23Z</dcterms:created>
  <dcterms:modified xsi:type="dcterms:W3CDTF">2026-04-29T12:07:31Z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